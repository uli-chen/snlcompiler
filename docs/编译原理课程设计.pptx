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6" r:id="rId6"/>
    <p:sldId id="292" r:id="rId7"/>
    <p:sldId id="261" r:id="rId8"/>
    <p:sldId id="268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4" r:id="rId21"/>
    <p:sldId id="271" r:id="rId22"/>
    <p:sldId id="273" r:id="rId23"/>
    <p:sldId id="274" r:id="rId24"/>
    <p:sldId id="264" r:id="rId25"/>
    <p:sldId id="295" r:id="rId26"/>
    <p:sldId id="265" r:id="rId27"/>
    <p:sldId id="276" r:id="rId28"/>
    <p:sldId id="293" r:id="rId29"/>
    <p:sldId id="296" r:id="rId30"/>
    <p:sldId id="278" r:id="rId31"/>
    <p:sldId id="259" r:id="rId3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993366"/>
    <a:srgbClr val="FF66FF"/>
    <a:srgbClr val="3399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10" d="100"/>
          <a:sy n="110" d="100"/>
        </p:scale>
        <p:origin x="326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674CD5-DE1C-45CE-BF18-4EEE57F99E9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01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6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7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42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E27535-5F3B-48F2-B656-B85E1ECF6D5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20E7F4-46BA-4BEB-8495-C4E92143A34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20E7F4-46BA-4BEB-8495-C4E92143A34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20E7F4-46BA-4BEB-8495-C4E92143A34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20E7F4-46BA-4BEB-8495-C4E92143A34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20E7F4-46BA-4BEB-8495-C4E92143A34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20E7F4-46BA-4BEB-8495-C4E92143A34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20E7F4-46BA-4BEB-8495-C4E92143A34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20E7F4-46BA-4BEB-8495-C4E92143A34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20E7F4-46BA-4BEB-8495-C4E92143A34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20E7F4-46BA-4BEB-8495-C4E92143A34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63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20E7F4-46BA-4BEB-8495-C4E92143A34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zh-CN" altLang="en-US" dirty="0">
                <a:latin typeface="+mj-lt"/>
                <a:ea typeface="+mj-ea"/>
                <a:cs typeface="+mj-cs"/>
              </a:rPr>
              <a:t>编译原理课程设计</a:t>
            </a:r>
            <a:endParaRPr lang="zh-CN" altLang="en-US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实验内容</a:t>
            </a:r>
            <a:endParaRPr lang="zh-CN" altLang="en-US" dirty="0"/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1182688" y="2017713"/>
            <a:ext cx="7427912" cy="4114800"/>
          </a:xfrm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90000"/>
              </a:lnSpc>
              <a:buClr>
                <a:srgbClr val="0000FF"/>
              </a:buClr>
            </a:pPr>
            <a:r>
              <a:rPr lang="zh-CN" altLang="en-US" sz="3200" dirty="0"/>
              <a:t>设计并实现</a:t>
            </a:r>
            <a:r>
              <a:rPr lang="en-US" altLang="zh-CN" sz="3200" b="1" u="sng" dirty="0"/>
              <a:t>SNL</a:t>
            </a:r>
            <a:r>
              <a:rPr lang="zh-CN" altLang="en-US" sz="3200" b="1" u="sng" dirty="0"/>
              <a:t>程序设计语言</a:t>
            </a:r>
            <a:r>
              <a:rPr lang="zh-CN" altLang="en-US" sz="3200" dirty="0"/>
              <a:t>的编译程序：</a:t>
            </a:r>
            <a:endParaRPr lang="zh-CN" altLang="en-US" sz="3200" dirty="0"/>
          </a:p>
          <a:p>
            <a:pPr lvl="2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3200" dirty="0"/>
              <a:t>词法分析模块</a:t>
            </a:r>
            <a:endParaRPr lang="zh-CN" altLang="en-US" sz="3200" dirty="0"/>
          </a:p>
          <a:p>
            <a:pPr lvl="2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3200" dirty="0"/>
              <a:t>语法分析模块</a:t>
            </a:r>
            <a:endParaRPr lang="zh-CN" altLang="en-US" sz="3200" dirty="0"/>
          </a:p>
          <a:p>
            <a:pPr lvl="2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3200" dirty="0"/>
              <a:t>语义分析模块</a:t>
            </a:r>
            <a:endParaRPr lang="en-US" altLang="zh-CN" sz="3200" dirty="0"/>
          </a:p>
          <a:p>
            <a:pPr lvl="2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3200" dirty="0"/>
              <a:t>目标代码生成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实验目的</a:t>
            </a:r>
            <a:endParaRPr lang="zh-CN" altLang="en-US" dirty="0"/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通过对</a:t>
            </a:r>
            <a:r>
              <a:rPr lang="en-US" altLang="zh-CN" dirty="0"/>
              <a:t>SNL</a:t>
            </a:r>
            <a:r>
              <a:rPr lang="zh-CN" altLang="en-US" dirty="0"/>
              <a:t>编译程序的学习和动手实践，使学生可以更加深入、全面地掌握编译程序的工作原理和实现技术；</a:t>
            </a:r>
            <a:endParaRPr lang="en-US" altLang="zh-CN" dirty="0"/>
          </a:p>
          <a:p>
            <a:pPr eaLnBrk="1" hangingPunct="1"/>
            <a:r>
              <a:rPr lang="zh-CN" altLang="en-US" dirty="0"/>
              <a:t>培养大型软件的程序设计方法。</a:t>
            </a:r>
            <a:endParaRPr lang="zh-CN" altLang="en-US" dirty="0"/>
          </a:p>
          <a:p>
            <a:pPr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实验要求</a:t>
            </a:r>
            <a:endParaRPr lang="zh-CN" altLang="en-US" dirty="0"/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685800" y="1828800"/>
            <a:ext cx="8258175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400" dirty="0"/>
              <a:t>本次实验编程使用语言不限，文法必须使用</a:t>
            </a:r>
            <a:r>
              <a:rPr lang="en-US" altLang="zh-CN" sz="2400" dirty="0"/>
              <a:t>SNL(Small Nested Language) </a:t>
            </a:r>
            <a:r>
              <a:rPr lang="zh-CN" altLang="en-US" sz="2400" dirty="0"/>
              <a:t>文法；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实验以三人小组形式分工协作完成，以个人设计部分的完成情况分别给定成绩。实验小组要求必须完成词法分析、语法分析和语义分析模块，争取优秀成绩的实验组必须完成目标代码生成模块；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本次实验词法分析和语法分析程序可以自行编程实现，方法不限，也允许使用自动生成工具生成代码；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目标代码</a:t>
            </a:r>
            <a:r>
              <a:rPr lang="zh-CN" altLang="en-US" sz="2400" dirty="0"/>
              <a:t>必须使用</a:t>
            </a:r>
            <a:r>
              <a:rPr lang="en-US" altLang="zh-CN" sz="2400" dirty="0"/>
              <a:t>MIPS</a:t>
            </a:r>
            <a:r>
              <a:rPr lang="zh-CN" altLang="en-US" sz="2400" dirty="0"/>
              <a:t>汇编指令实现。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SNL</a:t>
            </a:r>
            <a:r>
              <a:rPr lang="zh-CN" altLang="en-US" dirty="0"/>
              <a:t>语言简介</a:t>
            </a:r>
            <a:endParaRPr lang="zh-CN" altLang="en-US" dirty="0"/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457200" y="2057400"/>
            <a:ext cx="5370513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SNL(Small Nested Language)</a:t>
            </a:r>
            <a:r>
              <a:rPr lang="zh-CN" altLang="en-US" dirty="0"/>
              <a:t>是自行定义的教学模型语言，它是一种类似</a:t>
            </a:r>
            <a:r>
              <a:rPr lang="en-US" altLang="zh-CN" dirty="0"/>
              <a:t>Pascal</a:t>
            </a:r>
            <a:r>
              <a:rPr lang="zh-CN" altLang="en-US" dirty="0"/>
              <a:t>的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高级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程序设计语言</a:t>
            </a:r>
            <a:endParaRPr lang="zh-CN" altLang="en-US" dirty="0"/>
          </a:p>
          <a:p>
            <a:pPr eaLnBrk="1" hangingPunct="1"/>
            <a:r>
              <a:rPr lang="zh-CN" altLang="en-US" dirty="0"/>
              <a:t>数据类型：整型、字符型，数组、记录</a:t>
            </a:r>
            <a:endParaRPr lang="zh-CN" altLang="en-US" dirty="0"/>
          </a:p>
          <a:p>
            <a:pPr eaLnBrk="1" hangingPunct="1"/>
            <a:r>
              <a:rPr lang="zh-CN" altLang="en-US" dirty="0"/>
              <a:t>过程允许嵌套定义，允许递归调用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pic>
        <p:nvPicPr>
          <p:cNvPr id="12292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295400"/>
            <a:ext cx="2935288" cy="4979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SNL</a:t>
            </a:r>
            <a:r>
              <a:rPr lang="zh-CN" altLang="en-US" dirty="0"/>
              <a:t>的程序结构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914400" y="2017713"/>
            <a:ext cx="3886200" cy="4687887"/>
          </a:xfrm>
        </p:spPr>
        <p:txBody>
          <a:bodyPr vert="horz" wrap="square" lIns="91440" tIns="45720" rIns="91440" bIns="45720" anchor="t" anchorCtr="0"/>
          <a:p>
            <a:pPr lvl="1" eaLnBrk="1" hangingPunct="1">
              <a:buClr>
                <a:srgbClr val="0000FF"/>
              </a:buClr>
            </a:pPr>
            <a:r>
              <a:rPr lang="zh-CN" altLang="en-US" dirty="0"/>
              <a:t>程序头</a:t>
            </a:r>
            <a:endParaRPr lang="en-US" altLang="zh-CN" dirty="0"/>
          </a:p>
          <a:p>
            <a:pPr lvl="1" eaLnBrk="1" hangingPunct="1">
              <a:buClr>
                <a:srgbClr val="0000FF"/>
              </a:buClr>
            </a:pPr>
            <a:r>
              <a:rPr lang="zh-CN" altLang="en-US" dirty="0"/>
              <a:t>声明部分</a:t>
            </a:r>
            <a:endParaRPr lang="en-US" altLang="zh-CN" dirty="0"/>
          </a:p>
          <a:p>
            <a:pPr lvl="2" eaLnBrk="1" hangingPunct="1">
              <a:buClr>
                <a:srgbClr val="FF0000"/>
              </a:buClr>
            </a:pPr>
            <a:r>
              <a:rPr lang="zh-CN" altLang="en-US" dirty="0"/>
              <a:t>类型声明部分</a:t>
            </a:r>
            <a:endParaRPr lang="zh-CN" altLang="en-US" dirty="0"/>
          </a:p>
          <a:p>
            <a:pPr lvl="2" eaLnBrk="1" hangingPunct="1">
              <a:buClr>
                <a:srgbClr val="FF0000"/>
              </a:buClr>
            </a:pPr>
            <a:r>
              <a:rPr lang="zh-CN" altLang="en-US" dirty="0"/>
              <a:t>变量声明部分</a:t>
            </a:r>
            <a:endParaRPr lang="zh-CN" altLang="en-US" dirty="0"/>
          </a:p>
          <a:p>
            <a:pPr lvl="2" eaLnBrk="1" hangingPunct="1">
              <a:buClr>
                <a:srgbClr val="FF0000"/>
              </a:buClr>
            </a:pPr>
            <a:r>
              <a:rPr lang="zh-CN" altLang="en-US" dirty="0"/>
              <a:t>过程声明部分</a:t>
            </a:r>
            <a:endParaRPr lang="zh-CN" altLang="en-US" dirty="0"/>
          </a:p>
          <a:p>
            <a:pPr lvl="1" eaLnBrk="1" hangingPunct="1">
              <a:buClr>
                <a:srgbClr val="0000FF"/>
              </a:buClr>
            </a:pPr>
            <a:r>
              <a:rPr lang="zh-CN" altLang="en-US" dirty="0"/>
              <a:t>程序体部分</a:t>
            </a:r>
            <a:endParaRPr lang="en-US" altLang="zh-CN" dirty="0"/>
          </a:p>
          <a:p>
            <a:pPr lvl="1" eaLnBrk="1" hangingPunct="1">
              <a:buClr>
                <a:srgbClr val="0000FF"/>
              </a:buClr>
            </a:pPr>
            <a:endParaRPr lang="en-US" altLang="zh-CN" dirty="0"/>
          </a:p>
          <a:p>
            <a:pPr lvl="1" eaLnBrk="1" hangingPunct="1">
              <a:buClr>
                <a:srgbClr val="0000FF"/>
              </a:buClr>
              <a:buNone/>
            </a:pPr>
            <a:endParaRPr lang="zh-CN" altLang="en-US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400" dirty="0"/>
          </a:p>
        </p:txBody>
      </p:sp>
      <p:sp>
        <p:nvSpPr>
          <p:cNvPr id="14340" name="矩形 3"/>
          <p:cNvSpPr/>
          <p:nvPr/>
        </p:nvSpPr>
        <p:spPr>
          <a:xfrm>
            <a:off x="4876800" y="1981200"/>
            <a:ext cx="3581400" cy="3970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program pp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var   integer  v1;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char  c;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procedure f();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begin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v1 :=2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End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Begin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f();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write(v1)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end.</a:t>
            </a:r>
            <a:endParaRPr lang="en-US" altLang="zh-C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685800" y="106363"/>
            <a:ext cx="8077200" cy="658812"/>
          </a:xfrm>
        </p:spPr>
        <p:txBody>
          <a:bodyPr vert="horz" wrap="square" lIns="91440" tIns="45720" rIns="91440" bIns="45720" anchor="b" anchorCtr="0"/>
          <a:p>
            <a:r>
              <a:rPr lang="en-US" altLang="zh-CN" sz="4000" b="1" dirty="0"/>
              <a:t>SNL</a:t>
            </a:r>
            <a:r>
              <a:rPr lang="zh-CN" altLang="en-US" sz="4000" b="1" dirty="0"/>
              <a:t>语言的上下文无关文法</a:t>
            </a:r>
            <a:r>
              <a:rPr lang="en-US" altLang="zh-CN" sz="4000" b="1" dirty="0"/>
              <a:t>P8-11</a:t>
            </a:r>
            <a:endParaRPr lang="zh-CN" altLang="en-US" sz="40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38200"/>
            <a:ext cx="9296400" cy="55165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1)  Program	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::=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ProgramHead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DeclarePart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ProgramBody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2)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ProgramHead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PROGRAM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ProgramName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3)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ProgramName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::=       ID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4)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DeclarePart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TypeDec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VarDec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ProcDec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	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TypeDec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::=	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|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TypeDeclaration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7)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TypeDeclaration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::= 	TYPE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TypeDecList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8) 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TypeDecList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::=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TypeId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TypeName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;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TypeDecMore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9) 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TypeDecMore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 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 	     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TypeDecList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    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11)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TypeId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::= 	ID		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175" y="0"/>
            <a:ext cx="9372600" cy="6597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12)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TypeName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 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BaseType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13)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         	         		|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StructureType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14)		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ID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15)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BaseType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INTEGER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16)			             | CHAR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17)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StructureType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 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ArrayType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18)	                 		|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RecType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19)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ArrayType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ARRAY [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low..top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] OF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BaseType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20)	Low          	::=  	INTC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21)Top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INTC   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22)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RecType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::=	RECORD  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FieldDecList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END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23)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FieldDecList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BaseType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;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FieldDecMore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24)	                   		|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ArrayType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;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FieldDecMore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25)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FieldDecMore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26)				|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FieldDecList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8434" name="Rectangle 3"/>
          <p:cNvSpPr>
            <a:spLocks noGrp="1"/>
          </p:cNvSpPr>
          <p:nvPr>
            <p:ph idx="1"/>
          </p:nvPr>
        </p:nvSpPr>
        <p:spPr>
          <a:xfrm>
            <a:off x="0" y="260350"/>
            <a:ext cx="9448800" cy="6597650"/>
          </a:xfrm>
        </p:spPr>
        <p:txBody>
          <a:bodyPr vert="horz" wrap="square" lIns="91440" tIns="45720" rIns="91440" bIns="45720" anchor="t" anchorCtr="0"/>
          <a:p>
            <a:pPr marL="609600" indent="-609600">
              <a:buFontTx/>
              <a:buNone/>
            </a:pPr>
            <a:r>
              <a:rPr lang="en-US" altLang="zh-CN" sz="2400" b="1" dirty="0"/>
              <a:t>27)	IdList		::= 	ID  IdMore				</a:t>
            </a:r>
            <a:endParaRPr lang="en-US" altLang="zh-CN" sz="2400" b="1" dirty="0"/>
          </a:p>
          <a:p>
            <a:pPr marL="609600" indent="-609600">
              <a:buFontTx/>
              <a:buNone/>
            </a:pPr>
            <a:r>
              <a:rPr lang="en-US" altLang="zh-CN" sz="2400" b="1" dirty="0"/>
              <a:t>28)	IdMore		::=	 </a:t>
            </a:r>
            <a:r>
              <a:rPr lang="en-US" altLang="zh-CN" sz="2400" b="1" dirty="0">
                <a:sym typeface="Symbol" panose="05050102010706020507" pitchFamily="18" charset="2"/>
              </a:rPr>
              <a:t>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b="1" dirty="0"/>
              <a:t> 					</a:t>
            </a:r>
            <a:endParaRPr lang="en-US" altLang="zh-CN" sz="2400" b="1" dirty="0"/>
          </a:p>
          <a:p>
            <a:pPr marL="609600" indent="-609600">
              <a:buFontTx/>
              <a:buNone/>
            </a:pPr>
            <a:r>
              <a:rPr lang="en-US" altLang="zh-CN" sz="2400" b="1" dirty="0"/>
              <a:t>29)					| , IdList </a:t>
            </a:r>
            <a:r>
              <a:rPr lang="zh-CN" altLang="en-US" sz="2400" b="1" dirty="0"/>
              <a:t> </a:t>
            </a:r>
            <a:endParaRPr lang="zh-CN" altLang="en-US" sz="2400" b="1" dirty="0"/>
          </a:p>
          <a:p>
            <a:pPr marL="609600" indent="-609600">
              <a:buFontTx/>
              <a:buNone/>
            </a:pPr>
            <a:r>
              <a:rPr lang="en-US" altLang="zh-CN" sz="2400" b="1" dirty="0"/>
              <a:t>30)	VarDec		::=	 </a:t>
            </a:r>
            <a:r>
              <a:rPr lang="en-US" altLang="zh-CN" sz="2400" b="1" dirty="0">
                <a:sym typeface="Symbol" panose="05050102010706020507" pitchFamily="18" charset="2"/>
              </a:rPr>
              <a:t></a:t>
            </a:r>
            <a:r>
              <a:rPr lang="en-US" altLang="zh-CN" sz="2400" dirty="0"/>
              <a:t> </a:t>
            </a:r>
            <a:r>
              <a:rPr lang="en-US" altLang="zh-CN" sz="2400" b="1" dirty="0"/>
              <a:t>			  	</a:t>
            </a:r>
            <a:endParaRPr lang="en-US" altLang="zh-CN" sz="2400" b="1" dirty="0"/>
          </a:p>
          <a:p>
            <a:pPr marL="609600" indent="-609600">
              <a:buFontTx/>
              <a:buNone/>
            </a:pPr>
            <a:r>
              <a:rPr lang="en-US" altLang="zh-CN" sz="2400" b="1" dirty="0"/>
              <a:t>31)                	 		| VarDeclaration			</a:t>
            </a:r>
            <a:endParaRPr lang="en-US" altLang="zh-CN" sz="2400" b="1" dirty="0"/>
          </a:p>
          <a:p>
            <a:pPr marL="609600" indent="-609600">
              <a:buFontTx/>
              <a:buNone/>
            </a:pPr>
            <a:r>
              <a:rPr lang="en-US" altLang="zh-CN" sz="2400" b="1" dirty="0"/>
              <a:t>32)	VarDeclaration	::=	VAR  VarDecList			</a:t>
            </a:r>
            <a:endParaRPr lang="en-US" altLang="zh-CN" sz="2400" b="1" dirty="0"/>
          </a:p>
          <a:p>
            <a:pPr marL="609600" indent="-609600">
              <a:buFontTx/>
              <a:buNone/>
            </a:pPr>
            <a:r>
              <a:rPr lang="en-US" altLang="zh-CN" sz="2400" b="1" dirty="0"/>
              <a:t>33)	VarDecList ::= TypeName	VarIdList ;  VarDecMore</a:t>
            </a:r>
            <a:endParaRPr lang="en-US" altLang="zh-CN" sz="2400" b="1" dirty="0"/>
          </a:p>
          <a:p>
            <a:pPr marL="609600" indent="-609600">
              <a:buFontTx/>
              <a:buNone/>
            </a:pPr>
            <a:r>
              <a:rPr lang="en-US" altLang="zh-CN" sz="2400" b="1" dirty="0"/>
              <a:t>34)	VarDecMore	::= 	 </a:t>
            </a:r>
            <a:r>
              <a:rPr lang="en-US" altLang="zh-CN" sz="2400" b="1" dirty="0">
                <a:sym typeface="Symbol" panose="05050102010706020507" pitchFamily="18" charset="2"/>
              </a:rPr>
              <a:t>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b="1" dirty="0"/>
              <a:t> 				</a:t>
            </a:r>
            <a:endParaRPr lang="en-US" altLang="zh-CN" sz="2400" b="1" dirty="0"/>
          </a:p>
          <a:p>
            <a:pPr marL="609600" indent="-609600">
              <a:buFontTx/>
              <a:buNone/>
            </a:pPr>
            <a:r>
              <a:rPr lang="en-US" altLang="zh-CN" sz="2400" b="1" dirty="0"/>
              <a:t>35</a:t>
            </a:r>
            <a:r>
              <a:rPr lang="zh-CN" altLang="en-US" sz="2400" b="1" dirty="0"/>
              <a:t>）                   		</a:t>
            </a:r>
            <a:r>
              <a:rPr lang="en-US" altLang="zh-CN" sz="2400" b="1" dirty="0"/>
              <a:t>|VarDecList</a:t>
            </a:r>
            <a:endParaRPr lang="en-US" altLang="zh-CN" sz="2400" b="1" dirty="0"/>
          </a:p>
          <a:p>
            <a:pPr marL="609600" indent="-609600">
              <a:buFontTx/>
              <a:buNone/>
            </a:pPr>
            <a:r>
              <a:rPr lang="en-US" altLang="zh-CN" sz="2400" b="1" dirty="0"/>
              <a:t>36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VarIdList	::=	id  VarIdMore	</a:t>
            </a:r>
            <a:endParaRPr lang="en-US" altLang="zh-CN" sz="2400" b="1" dirty="0"/>
          </a:p>
          <a:p>
            <a:pPr marL="609600" indent="-609600">
              <a:buFontTx/>
              <a:buNone/>
            </a:pPr>
            <a:r>
              <a:rPr lang="en-US" altLang="zh-CN" sz="2400" b="1" dirty="0"/>
              <a:t>37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VarIdMore	::=	 </a:t>
            </a:r>
            <a:r>
              <a:rPr lang="en-US" altLang="zh-CN" sz="2400" b="1" dirty="0">
                <a:sym typeface="Symbol" panose="05050102010706020507" pitchFamily="18" charset="2"/>
              </a:rPr>
              <a:t>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b="1" dirty="0"/>
              <a:t> 				</a:t>
            </a:r>
            <a:endParaRPr lang="en-US" altLang="zh-CN" sz="2400" b="1" dirty="0"/>
          </a:p>
          <a:p>
            <a:pPr marL="609600" indent="-609600">
              <a:buFontTx/>
              <a:buNone/>
            </a:pPr>
            <a:r>
              <a:rPr lang="en-US" altLang="zh-CN" sz="2400" b="1" dirty="0"/>
              <a:t>38</a:t>
            </a:r>
            <a:r>
              <a:rPr lang="zh-CN" altLang="en-US" sz="2400" b="1" dirty="0"/>
              <a:t>）                    		</a:t>
            </a:r>
            <a:r>
              <a:rPr lang="en-US" altLang="zh-CN" sz="2400" b="1" dirty="0"/>
              <a:t>| , VarIdList					</a:t>
            </a:r>
            <a:endParaRPr lang="zh-CN" altLang="en-US" sz="2400" b="1" dirty="0"/>
          </a:p>
          <a:p>
            <a:pPr marL="609600" indent="-609600">
              <a:buClr>
                <a:srgbClr val="FFFF66"/>
              </a:buClr>
              <a:buFont typeface="Wingdings 2" panose="05020102010507070707" pitchFamily="18" charset="2"/>
              <a:buNone/>
            </a:pPr>
            <a:endParaRPr lang="en-US" altLang="zh-CN" sz="2400" b="1" dirty="0">
              <a:solidFill>
                <a:srgbClr val="FFFFCC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9458" name="Rectangle 329"/>
          <p:cNvSpPr>
            <a:spLocks noGrp="1"/>
          </p:cNvSpPr>
          <p:nvPr>
            <p:ph idx="1"/>
          </p:nvPr>
        </p:nvSpPr>
        <p:spPr>
          <a:xfrm>
            <a:off x="179388" y="260350"/>
            <a:ext cx="10260012" cy="6597650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  <a:buFontTx/>
              <a:buNone/>
            </a:pPr>
            <a:endParaRPr lang="zh-CN" altLang="en-US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39)	ProcDec	::=	 </a:t>
            </a:r>
            <a:r>
              <a:rPr lang="en-US" altLang="zh-CN" sz="2800" b="1" dirty="0">
                <a:sym typeface="Symbol" panose="05050102010706020507" pitchFamily="18" charset="2"/>
              </a:rPr>
              <a:t>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en-US" altLang="zh-CN" sz="2800" b="1" dirty="0"/>
              <a:t> 			  		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40)	                   	 | ProcDeclaration		  	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41)ProcDeclaration::=	PROCEDURE		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					ProcName ( ParamList )  ;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					ProcDecPart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					ProcBody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					ProcDecMore 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42) ProcDecMore::=	</a:t>
            </a:r>
            <a:r>
              <a:rPr lang="en-US" altLang="zh-CN" sz="2800" b="1" dirty="0">
                <a:sym typeface="Symbol" panose="05050102010706020507" pitchFamily="18" charset="2"/>
              </a:rPr>
              <a:t>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en-US" altLang="zh-CN" sz="2800" b="1" dirty="0"/>
              <a:t> 					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43)				| ProcDeclaration	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44) ProcName	 ::=	ID	</a:t>
            </a:r>
            <a:r>
              <a:rPr lang="en-US" altLang="zh-CN" b="1" dirty="0"/>
              <a:t>		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317" name="Rectangle 5"/>
          <p:cNvSpPr>
            <a:spLocks noGrp="1" noChangeArrowheads="1"/>
          </p:cNvSpPr>
          <p:nvPr>
            <p:ph idx="1"/>
          </p:nvPr>
        </p:nvSpPr>
        <p:spPr>
          <a:xfrm>
            <a:off x="0" y="188913"/>
            <a:ext cx="9144000" cy="6669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45)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ParamList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			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46)                     		|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ParamDecList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47)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ParamDecList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ParamMore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48)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ParamMore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			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49)				| ;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ParamDecList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50)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::=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TypeName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FormList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51)	                    		| VAR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TypeName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FormList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52)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FormList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 	ID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FidMore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53)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FidMore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	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54)	                    		| ,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FormList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1506" name="Text Box 9"/>
          <p:cNvSpPr txBox="1"/>
          <p:nvPr/>
        </p:nvSpPr>
        <p:spPr>
          <a:xfrm>
            <a:off x="539750" y="333375"/>
            <a:ext cx="80645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spcBef>
                <a:spcPct val="50000"/>
              </a:spcBef>
              <a:buClrTx/>
              <a:buSzTx/>
              <a:buFontTx/>
              <a:buNone/>
            </a:pPr>
            <a:endParaRPr lang="zh-CN" altLang="en-US" dirty="0">
              <a:solidFill>
                <a:srgbClr val="FFFF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10"/>
          <p:cNvSpPr>
            <a:spLocks noGrp="1"/>
          </p:cNvSpPr>
          <p:nvPr>
            <p:ph idx="1"/>
          </p:nvPr>
        </p:nvSpPr>
        <p:spPr>
          <a:xfrm>
            <a:off x="179388" y="333375"/>
            <a:ext cx="8964612" cy="6524625"/>
          </a:xfrm>
        </p:spPr>
        <p:txBody>
          <a:bodyPr vert="horz" wrap="square" lIns="91440" tIns="45720" rIns="91440" bIns="45720" anchor="t" anchorCtr="0"/>
          <a:p>
            <a:pPr>
              <a:buFontTx/>
              <a:buNone/>
            </a:pPr>
            <a:endParaRPr lang="zh-CN" altLang="en-US" sz="2800" b="1" dirty="0"/>
          </a:p>
          <a:p>
            <a:pPr>
              <a:buFontTx/>
              <a:buNone/>
            </a:pPr>
            <a:r>
              <a:rPr lang="en-US" altLang="zh-CN" sz="2800" b="1" dirty="0"/>
              <a:t>55)	ProcDecPart	::=	DeclarePart   </a:t>
            </a:r>
            <a:endParaRPr lang="en-US" altLang="zh-CN" sz="2800" b="1" dirty="0"/>
          </a:p>
          <a:p>
            <a:pPr>
              <a:buFontTx/>
              <a:buNone/>
            </a:pPr>
            <a:endParaRPr lang="zh-CN" altLang="en-US" sz="2800" b="1" dirty="0"/>
          </a:p>
          <a:p>
            <a:pPr>
              <a:buFontTx/>
              <a:buNone/>
            </a:pPr>
            <a:r>
              <a:rPr lang="en-US" altLang="zh-CN" sz="2800" b="1" dirty="0"/>
              <a:t>56)	ProcBody		::=	ProgramBody	</a:t>
            </a:r>
            <a:endParaRPr lang="en-US" altLang="zh-CN" sz="2800" b="1" dirty="0"/>
          </a:p>
          <a:p>
            <a:pPr>
              <a:buFontTx/>
              <a:buNone/>
            </a:pPr>
            <a:endParaRPr lang="zh-CN" altLang="en-US" sz="2800" b="1" dirty="0"/>
          </a:p>
          <a:p>
            <a:pPr>
              <a:buFontTx/>
              <a:buNone/>
            </a:pPr>
            <a:r>
              <a:rPr lang="en-US" altLang="zh-CN" sz="2800" b="1" dirty="0"/>
              <a:t>57)ProgramBody	::=	BEGIN  StmList END</a:t>
            </a:r>
            <a:endParaRPr lang="en-US" altLang="zh-CN" sz="2800" b="1" dirty="0"/>
          </a:p>
          <a:p>
            <a:pPr>
              <a:buFontTx/>
              <a:buNone/>
            </a:pPr>
            <a:endParaRPr lang="zh-CN" altLang="en-US" sz="2800" b="1" dirty="0"/>
          </a:p>
          <a:p>
            <a:pPr>
              <a:buFontTx/>
              <a:buNone/>
            </a:pPr>
            <a:r>
              <a:rPr lang="en-US" altLang="zh-CN" sz="2800" b="1" dirty="0"/>
              <a:t>58)	StmList		::=	Stm		StmMore	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59)	StmMore		::=	 </a:t>
            </a:r>
            <a:r>
              <a:rPr lang="en-US" altLang="zh-CN" sz="2800" b="1" dirty="0">
                <a:sym typeface="Symbol" panose="05050102010706020507" pitchFamily="18" charset="2"/>
              </a:rPr>
              <a:t>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en-US" altLang="zh-CN" sz="2800" dirty="0"/>
              <a:t> </a:t>
            </a:r>
            <a:r>
              <a:rPr lang="en-US" altLang="zh-CN" sz="2800" b="1" dirty="0"/>
              <a:t>		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60)	 				| ;  StmList</a:t>
            </a:r>
            <a:r>
              <a:rPr lang="en-US" altLang="zh-CN" b="1" dirty="0"/>
              <a:t>	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0"/>
            <a:ext cx="8713788" cy="6858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61) 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Stm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	::=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ConditionalStm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62)					|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LoopStm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63)					|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InputStm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64)					|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OutputStm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65)					|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ReturnStm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66)					| ID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AssCall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67)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AssCall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::=  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AssignmentRest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68)	                    		|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CallStmRest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		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69)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AssignmentRest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::=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VariMore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:=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Exp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70)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ConditionalStm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::=	IF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RelExp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THEN 				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StmList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ELSE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StmList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 FI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88913"/>
            <a:ext cx="8713788" cy="56784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81000" marR="0" lvl="0" indent="-3810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71)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LoopStm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::=	WHILE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RelExp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StmList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ENDWH			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72)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InputStm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READ ( Invar) 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73)Invar 		::=   ID		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74)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OutputStm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WRITE(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75)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ReturnStm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RETURN (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)	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76)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CallStmRest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::=	(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ActParamList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)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77)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ActParamList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::=	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		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78)                   		 |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ActParamMore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79)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ActParamMore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::=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			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80)	                 		| ,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ActParamList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4578" name="Rectangle 3"/>
          <p:cNvSpPr>
            <a:spLocks noGrp="1"/>
          </p:cNvSpPr>
          <p:nvPr>
            <p:ph idx="1"/>
          </p:nvPr>
        </p:nvSpPr>
        <p:spPr>
          <a:xfrm>
            <a:off x="179388" y="188913"/>
            <a:ext cx="8713787" cy="6408737"/>
          </a:xfrm>
        </p:spPr>
        <p:txBody>
          <a:bodyPr vert="horz" wrap="square" lIns="91440" tIns="45720" rIns="91440" bIns="45720" anchor="t" anchorCtr="0"/>
          <a:p>
            <a:pPr>
              <a:buFontTx/>
              <a:buNone/>
            </a:pPr>
            <a:r>
              <a:rPr lang="en-US" altLang="zh-CN" sz="2800" b="1" dirty="0"/>
              <a:t>81)RelExp	::=  Exp  OtherRelE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82)OtherRelE	::=  CmpOp   Exp 		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83)Exp		::=  Term   OtherTerm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84)OtherTerm	::=  </a:t>
            </a:r>
            <a:r>
              <a:rPr lang="en-US" altLang="zh-CN" b="1" dirty="0">
                <a:sym typeface="Symbol" panose="05050102010706020507" pitchFamily="18" charset="2"/>
              </a:rPr>
              <a:t>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sz="2800" b="1" dirty="0"/>
              <a:t> 		            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85)	                     	      | AddOp   Exp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86)Term		::=   Factor   OtherFactor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87)OtherFactor	::=   </a:t>
            </a:r>
            <a:r>
              <a:rPr lang="en-US" altLang="zh-CN" b="1" dirty="0">
                <a:sym typeface="Symbol" panose="05050102010706020507" pitchFamily="18" charset="2"/>
              </a:rPr>
              <a:t>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88)	                            |  MultOp  Term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89)Factor		::=   (  Exp  )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90)	                             |  INTC	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91)	                             |  Variable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92)	Variable	::=   ID   VariMore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477000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  <a:buClr>
                <a:srgbClr val="66FFFF"/>
              </a:buClr>
              <a:buFontTx/>
              <a:buNone/>
            </a:pPr>
            <a:r>
              <a:rPr lang="en-US" altLang="zh-CN" sz="2800" b="1" dirty="0"/>
              <a:t>93)VariMore	::= 	</a:t>
            </a:r>
            <a:r>
              <a:rPr lang="en-US" altLang="zh-CN" sz="2800" b="1" dirty="0">
                <a:sym typeface="Symbol" panose="05050102010706020507" pitchFamily="18" charset="2"/>
              </a:rPr>
              <a:t>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94)	                      	| [ Exp ]	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95)	                      	| .  FieldVar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96)FieldVar	::=  	ID   FieldVarMore	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97)FieldVarMore::= 	</a:t>
            </a:r>
            <a:r>
              <a:rPr lang="en-US" altLang="zh-CN" sz="2800" b="1" dirty="0">
                <a:sym typeface="Symbol" panose="05050102010706020507" pitchFamily="18" charset="2"/>
              </a:rPr>
              <a:t>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en-US" altLang="zh-CN" sz="2800" b="1" dirty="0"/>
              <a:t> 				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98)	                     	| [ Exp  ]				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99)CmpOp	::=  	&lt;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100)	                     	|  =	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101)AddOp	::=  	+	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102)                     	| -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103) MultOp	::=  	*</a:t>
            </a:r>
            <a:endParaRPr lang="en-US" altLang="zh-CN" sz="28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104</a:t>
            </a:r>
            <a:r>
              <a:rPr lang="zh-CN" altLang="en-US" sz="2800" b="1" dirty="0"/>
              <a:t>）	                 	</a:t>
            </a:r>
            <a:r>
              <a:rPr lang="en-US" altLang="zh-CN" sz="2800" b="1" dirty="0"/>
              <a:t>|  /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第一个程序：</a:t>
            </a:r>
            <a:br>
              <a:rPr lang="en-US" altLang="zh-CN" dirty="0"/>
            </a:br>
            <a:r>
              <a:rPr lang="en-US" altLang="zh-CN" dirty="0"/>
              <a:t>SNL</a:t>
            </a:r>
            <a:r>
              <a:rPr lang="zh-CN" altLang="en-US" dirty="0"/>
              <a:t>的词法分析程序</a:t>
            </a:r>
            <a:endParaRPr lang="zh-CN" altLang="en-US" dirty="0"/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609600" y="2057400"/>
            <a:ext cx="82296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输入：</a:t>
            </a:r>
            <a:r>
              <a:rPr lang="en-US" altLang="zh-CN" sz="2800" dirty="0"/>
              <a:t>SNL</a:t>
            </a:r>
            <a:r>
              <a:rPr lang="zh-CN" altLang="en-US" sz="2800" dirty="0"/>
              <a:t>源程序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输出：单词的内部表示序列</a:t>
            </a:r>
            <a:r>
              <a:rPr lang="en-US" altLang="zh-CN" sz="2800" dirty="0"/>
              <a:t>-Token</a:t>
            </a:r>
            <a:r>
              <a:rPr lang="zh-CN" altLang="en-US" sz="2800" dirty="0"/>
              <a:t>序列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程序设计步骤</a:t>
            </a:r>
            <a:endParaRPr lang="zh-CN" altLang="en-US" sz="2800" dirty="0"/>
          </a:p>
          <a:p>
            <a:pPr marL="914400" lvl="1" indent="-457200" eaLnBrk="1" hangingPunct="1">
              <a:lnSpc>
                <a:spcPct val="90000"/>
              </a:lnSpc>
              <a:buFont typeface="Tahoma" panose="020B0604030504040204" pitchFamily="34" charset="0"/>
              <a:buAutoNum type="arabicPeriod"/>
            </a:pPr>
            <a:r>
              <a:rPr lang="zh-CN" altLang="en-US" sz="2400" dirty="0"/>
              <a:t>确定单词分类；</a:t>
            </a:r>
            <a:r>
              <a:rPr lang="en-US" altLang="zh-CN" sz="2400" dirty="0"/>
              <a:t>P31</a:t>
            </a:r>
            <a:endParaRPr lang="en-US" altLang="zh-CN" sz="2400" dirty="0"/>
          </a:p>
          <a:p>
            <a:pPr marL="914400" lvl="1" indent="-457200" eaLnBrk="1" hangingPunct="1">
              <a:lnSpc>
                <a:spcPct val="90000"/>
              </a:lnSpc>
              <a:buFont typeface="Tahoma" panose="020B0604030504040204" pitchFamily="34" charset="0"/>
              <a:buAutoNum type="arabicPeriod"/>
            </a:pPr>
            <a:r>
              <a:rPr lang="zh-CN" altLang="en-US" sz="2400" dirty="0"/>
              <a:t>单词的正则表达式定义（词法定义）；</a:t>
            </a:r>
            <a:r>
              <a:rPr lang="en-US" altLang="zh-CN" sz="2400" dirty="0"/>
              <a:t>P7–P8</a:t>
            </a:r>
            <a:endParaRPr lang="en-US" altLang="zh-CN" sz="2400" dirty="0"/>
          </a:p>
          <a:p>
            <a:pPr marL="914400" lvl="1" indent="-457200" eaLnBrk="1" hangingPunct="1">
              <a:lnSpc>
                <a:spcPct val="90000"/>
              </a:lnSpc>
              <a:buFont typeface="Tahoma" panose="020B0604030504040204" pitchFamily="34" charset="0"/>
              <a:buAutoNum type="arabicPeriod"/>
            </a:pPr>
            <a:r>
              <a:rPr lang="zh-CN" altLang="en-US" sz="2400" dirty="0"/>
              <a:t>构造</a:t>
            </a:r>
            <a:r>
              <a:rPr lang="en-US" altLang="zh-CN" sz="2400" dirty="0"/>
              <a:t>DFA </a:t>
            </a:r>
            <a:r>
              <a:rPr lang="zh-CN" altLang="en-US" sz="2400" dirty="0"/>
              <a:t>； </a:t>
            </a:r>
            <a:r>
              <a:rPr lang="en-US" altLang="zh-CN" sz="2400" dirty="0"/>
              <a:t>P35</a:t>
            </a:r>
            <a:endParaRPr lang="en-US" altLang="zh-CN" sz="2400" dirty="0"/>
          </a:p>
          <a:p>
            <a:pPr marL="914400" lvl="1" indent="-457200" eaLnBrk="1" hangingPunct="1">
              <a:lnSpc>
                <a:spcPct val="90000"/>
              </a:lnSpc>
              <a:buFont typeface="Tahoma" panose="020B0604030504040204" pitchFamily="34" charset="0"/>
              <a:buAutoNum type="arabicPeriod"/>
            </a:pPr>
            <a:r>
              <a:rPr lang="zh-CN" altLang="en-US" sz="2400" dirty="0"/>
              <a:t>根据</a:t>
            </a:r>
            <a:r>
              <a:rPr lang="en-US" altLang="zh-CN" sz="2400" dirty="0"/>
              <a:t>DFA</a:t>
            </a:r>
            <a:r>
              <a:rPr lang="zh-CN" altLang="en-US" sz="2400" dirty="0"/>
              <a:t>生成单词识别函数</a:t>
            </a:r>
            <a:endParaRPr lang="zh-CN" altLang="en-US" sz="2400" dirty="0"/>
          </a:p>
          <a:p>
            <a:pPr marL="1314450" lvl="2" indent="-45720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对于给定的当前状态和当前字符，决定下一个状态；</a:t>
            </a:r>
            <a:endParaRPr lang="en-US" altLang="zh-CN" dirty="0"/>
          </a:p>
          <a:p>
            <a:pPr marL="1314450" lvl="2" indent="-45720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如果是结束状态，得到单词的类别和信息；</a:t>
            </a:r>
            <a:endParaRPr lang="en-US" altLang="zh-CN" dirty="0"/>
          </a:p>
          <a:p>
            <a:pPr marL="1314450" lvl="2" indent="-45720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否则，设置为当前状态；</a:t>
            </a:r>
            <a:endParaRPr lang="zh-CN" altLang="en-US" dirty="0"/>
          </a:p>
          <a:p>
            <a:pPr marL="914400" lvl="1" indent="-457200" eaLnBrk="1" hangingPunct="1">
              <a:lnSpc>
                <a:spcPct val="90000"/>
              </a:lnSpc>
              <a:buFont typeface="Tahoma" panose="020B0604030504040204" pitchFamily="34" charset="0"/>
              <a:buChar char="n"/>
            </a:pPr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28687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单词的</a:t>
            </a:r>
            <a:r>
              <a:rPr lang="en-US" altLang="zh-CN" dirty="0"/>
              <a:t>Token</a:t>
            </a:r>
            <a:r>
              <a:rPr lang="zh-CN" altLang="en-US" dirty="0"/>
              <a:t>表示</a:t>
            </a:r>
            <a:endParaRPr lang="zh-CN" alt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057400"/>
            <a:ext cx="82296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P32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867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3186113"/>
            <a:ext cx="7027863" cy="1857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2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750" y="0"/>
            <a:ext cx="52705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第二个程序 </a:t>
            </a:r>
            <a:r>
              <a:rPr lang="en-US" altLang="zh-CN" dirty="0"/>
              <a:t>SNL</a:t>
            </a:r>
            <a:r>
              <a:rPr lang="zh-CN" altLang="en-US" dirty="0"/>
              <a:t>语法分析</a:t>
            </a:r>
            <a:r>
              <a:rPr lang="en-US" altLang="zh-CN" dirty="0"/>
              <a:t>——</a:t>
            </a:r>
            <a:br>
              <a:rPr lang="en-US" altLang="zh-CN" dirty="0"/>
            </a:br>
            <a:r>
              <a:rPr lang="zh-CN" altLang="en-US" dirty="0"/>
              <a:t>方法</a:t>
            </a:r>
            <a:r>
              <a:rPr lang="en-US" altLang="zh-CN" dirty="0"/>
              <a:t>1</a:t>
            </a:r>
            <a:r>
              <a:rPr lang="zh-CN" altLang="en-US" dirty="0"/>
              <a:t>：递归下降分析程序</a:t>
            </a:r>
            <a:endParaRPr lang="zh-CN" altLang="en-US" dirty="0"/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>
          <a:xfrm>
            <a:off x="304800" y="1981200"/>
            <a:ext cx="50292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输入：</a:t>
            </a:r>
            <a:r>
              <a:rPr lang="en-US" altLang="zh-CN" dirty="0"/>
              <a:t>Token</a:t>
            </a:r>
            <a:r>
              <a:rPr lang="zh-CN" altLang="en-US" dirty="0"/>
              <a:t>序列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输出：语法错误检查信息和语法树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思想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对文法的每一个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N</a:t>
            </a:r>
            <a:r>
              <a:rPr lang="zh-CN" altLang="en-US" sz="2400" dirty="0"/>
              <a:t>都编写一个分析程序，当根据文法和当前输入符号预测到要用某个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N</a:t>
            </a:r>
            <a:r>
              <a:rPr lang="zh-CN" altLang="en-US" sz="2400" dirty="0"/>
              <a:t>去匹配输入串时，就调用该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N</a:t>
            </a:r>
            <a:r>
              <a:rPr lang="zh-CN" altLang="en-US" sz="2400" dirty="0"/>
              <a:t>的分析程序。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黑体" panose="02010609060101010101" pitchFamily="49" charset="-122"/>
              </a:rPr>
              <a:t>当产生式形如:</a:t>
            </a:r>
            <a:r>
              <a:rPr lang="en-US" altLang="zh-CN" sz="2400" dirty="0">
                <a:latin typeface="黑体" panose="02010609060101010101" pitchFamily="49" charset="-122"/>
              </a:rPr>
              <a:t>A</a:t>
            </a:r>
            <a:r>
              <a:rPr lang="en-US" altLang="zh-CN" sz="2400" dirty="0">
                <a:latin typeface="黑体" panose="02010609060101010101" pitchFamily="49" charset="-122"/>
                <a:sym typeface="Symbol" panose="05050102010706020507" pitchFamily="18" charset="2"/>
              </a:rPr>
              <a:t></a:t>
            </a:r>
            <a:r>
              <a:rPr lang="en-US" altLang="zh-CN" sz="2400" baseline="-25000" dirty="0">
                <a:latin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黑体" panose="02010609060101010101" pitchFamily="49" charset="-122"/>
                <a:sym typeface="Symbol" panose="05050102010706020507" pitchFamily="18" charset="2"/>
              </a:rPr>
              <a:t>|</a:t>
            </a:r>
            <a:r>
              <a:rPr lang="en-US" altLang="zh-CN" sz="2400" baseline="-25000" dirty="0">
                <a:latin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黑体" panose="02010609060101010101" pitchFamily="49" charset="-122"/>
                <a:sym typeface="Symbol" panose="05050102010706020507" pitchFamily="18" charset="2"/>
              </a:rPr>
              <a:t>|…|</a:t>
            </a:r>
            <a:r>
              <a:rPr lang="en-US" altLang="zh-CN" sz="2400" baseline="-25000" dirty="0">
                <a:latin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sym typeface="Symbol" panose="05050102010706020507" pitchFamily="18" charset="2"/>
              </a:rPr>
              <a:t>时需要通过</a:t>
            </a:r>
            <a:r>
              <a:rPr lang="en-US" altLang="zh-CN" sz="2400" dirty="0">
                <a:latin typeface="黑体" panose="02010609060101010101" pitchFamily="49" charset="-122"/>
                <a:sym typeface="Symbol" panose="05050102010706020507" pitchFamily="18" charset="2"/>
              </a:rPr>
              <a:t>predict</a:t>
            </a:r>
            <a:r>
              <a:rPr lang="zh-CN" altLang="en-US" sz="2400" dirty="0">
                <a:latin typeface="黑体" panose="02010609060101010101" pitchFamily="49" charset="-122"/>
                <a:sym typeface="Symbol" panose="05050102010706020507" pitchFamily="18" charset="2"/>
              </a:rPr>
              <a:t>集确定子程序的调用。</a:t>
            </a:r>
            <a:r>
              <a:rPr lang="en-US" altLang="zh-CN" sz="2400" dirty="0">
                <a:latin typeface="黑体" panose="02010609060101010101" pitchFamily="49" charset="-122"/>
                <a:sym typeface="Symbol" panose="05050102010706020507" pitchFamily="18" charset="2"/>
              </a:rPr>
              <a:t>P55-P57</a:t>
            </a:r>
            <a:endParaRPr lang="en-US" altLang="zh-CN" sz="2400" dirty="0">
              <a:latin typeface="黑体" panose="02010609060101010101" pitchFamily="49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5562600" y="1752600"/>
            <a:ext cx="3394075" cy="41211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例：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S → A u B</a:t>
            </a:r>
            <a:b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</a:b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       A → a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a</a:t>
            </a:r>
            <a:b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</a:b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       B → b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b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则各个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VN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的递归子程序结构如下：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S( )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begin A(); match(u); B() end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A( ) 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begin match(a); match(a) end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B( ) 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begin match(b); match(b) end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递归下降分析模块</a:t>
            </a:r>
            <a:endParaRPr lang="zh-CN" altLang="en-US" dirty="0"/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xfrm>
            <a:off x="914400" y="2057400"/>
            <a:ext cx="3178175" cy="452596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语法树的输出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层次文本输出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图形输出</a:t>
            </a:r>
            <a:endParaRPr lang="zh-CN" altLang="en-US" dirty="0"/>
          </a:p>
          <a:p>
            <a:pPr lvl="1" eaLnBrk="1" hangingPunct="1"/>
            <a:endParaRPr lang="en-US" altLang="zh-CN" dirty="0"/>
          </a:p>
        </p:txBody>
      </p:sp>
      <p:sp>
        <p:nvSpPr>
          <p:cNvPr id="34820" name="Rectangle 5"/>
          <p:cNvSpPr/>
          <p:nvPr/>
        </p:nvSpPr>
        <p:spPr>
          <a:xfrm>
            <a:off x="5580063" y="260350"/>
            <a:ext cx="3384550" cy="64817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de-DE" altLang="zh-CN" sz="1200" dirty="0">
                <a:latin typeface="宋体" panose="02010600030101010101" pitchFamily="2" charset="-122"/>
              </a:rPr>
              <a:t>ProK  </a:t>
            </a:r>
            <a:endParaRPr lang="de-DE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de-DE" altLang="zh-CN" sz="1200" dirty="0">
                <a:latin typeface="宋体" panose="02010600030101010101" pitchFamily="2" charset="-122"/>
              </a:rPr>
              <a:t>      PheadK  p  </a:t>
            </a:r>
            <a:endParaRPr lang="de-DE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de-DE" altLang="zh-CN" sz="1200" dirty="0">
                <a:latin typeface="宋体" panose="02010600030101010101" pitchFamily="2" charset="-122"/>
              </a:rPr>
              <a:t>      TypeK  </a:t>
            </a:r>
            <a:endParaRPr lang="de-DE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de-DE" altLang="zh-CN" sz="1200" dirty="0">
                <a:latin typeface="宋体" panose="02010600030101010101" pitchFamily="2" charset="-122"/>
              </a:rPr>
              <a:t>          DecK  IntegerK  t1  </a:t>
            </a:r>
            <a:endParaRPr lang="de-DE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de-DE" altLang="zh-CN" sz="1200" dirty="0">
                <a:latin typeface="宋体" panose="02010600030101010101" pitchFamily="2" charset="-122"/>
              </a:rPr>
              <a:t>      </a:t>
            </a:r>
            <a:r>
              <a:rPr lang="en-US" altLang="zh-CN" sz="1200" dirty="0">
                <a:latin typeface="宋体" panose="02010600030101010101" pitchFamily="2" charset="-122"/>
              </a:rPr>
              <a:t>VarK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DecK  IntegerK  v1  v2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ProcDecK  q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DecK value param:  IntegerK  i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VarK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DecK  IntegerK  a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StmLk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StmtK  Assign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    ExpK  a  IdV 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    ExpK  i  IdV 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StmtK  Write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    ExpK  a  IdV 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StmLk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StmtK  Read  v1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StmtK  If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ExpK  Op  &lt;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    ExpK  v1  IdV 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    ExpK  Const  10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StmtK  Assign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    ExpK  v1  IdV 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    ExpK  Op  +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        ExpK  v1  IdV 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        ExpK Const  10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StmtK  Assign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    ExpK  v1  IdV 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    ExpK  Op  -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        ExpK  v1  IdV 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        ExpK Const  10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StmtK  Call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        ExpK  q  IdV   </a:t>
            </a:r>
            <a:endParaRPr lang="en-US" altLang="zh-CN" sz="1200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/>
              <a:t>              ExpK  v1  IdV   </a:t>
            </a:r>
            <a:endParaRPr lang="en-US" altLang="zh-CN" sz="1200" dirty="0"/>
          </a:p>
        </p:txBody>
      </p:sp>
      <p:pic>
        <p:nvPicPr>
          <p:cNvPr id="3482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962400"/>
            <a:ext cx="6215063" cy="2438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SNL</a:t>
            </a:r>
            <a:r>
              <a:rPr lang="zh-CN" altLang="en-US" dirty="0"/>
              <a:t>语法分析 </a:t>
            </a:r>
            <a:r>
              <a:rPr lang="en-US" altLang="zh-CN" dirty="0"/>
              <a:t>——</a:t>
            </a:r>
            <a:br>
              <a:rPr lang="en-US" altLang="zh-CN" dirty="0"/>
            </a:br>
            <a:r>
              <a:rPr lang="zh-CN" altLang="en-US" dirty="0"/>
              <a:t>方法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LL(1)</a:t>
            </a:r>
            <a:r>
              <a:rPr lang="zh-CN" altLang="en-US" dirty="0"/>
              <a:t>分析程序</a:t>
            </a:r>
            <a:endParaRPr lang="zh-CN" altLang="en-US" dirty="0"/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1182688" y="1905000"/>
            <a:ext cx="7961312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400" dirty="0"/>
              <a:t>输入：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输出：语法错误检查信息和语法树</a:t>
            </a:r>
            <a:endParaRPr lang="zh-CN" altLang="en-US" sz="2400" dirty="0"/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pic>
        <p:nvPicPr>
          <p:cNvPr id="36868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895600"/>
            <a:ext cx="6096000" cy="3363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6"/>
          <p:cNvSpPr/>
          <p:nvPr/>
        </p:nvSpPr>
        <p:spPr>
          <a:xfrm>
            <a:off x="457200" y="6457950"/>
            <a:ext cx="7696200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2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Traditional Arabic" pitchFamily="18" charset="-78"/>
                <a:ea typeface="Traditional Arabic" pitchFamily="18" charset="-78"/>
              </a:rPr>
              <a:t>Program </a:t>
            </a:r>
            <a:r>
              <a:rPr lang="en-US" altLang="zh-CN" sz="1600" dirty="0">
                <a:latin typeface="Traditional Arabic" pitchFamily="18" charset="-78"/>
                <a:ea typeface="Traditional Arabic" pitchFamily="18" charset="-78"/>
                <a:sym typeface="Symbol" panose="05050102010706020507" pitchFamily="18" charset="2"/>
              </a:rPr>
              <a:t> ProgramHead DeclarePart ProgramBody .</a:t>
            </a:r>
            <a:endParaRPr lang="en-US" altLang="zh-CN" sz="1600" dirty="0">
              <a:latin typeface="Traditional Arabic" pitchFamily="18" charset="-78"/>
              <a:ea typeface="Traditional Arabic" pitchFamily="18" charset="-7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838200" y="214313"/>
            <a:ext cx="8105775" cy="1462087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词法和语法分析程序的自动生成</a:t>
            </a:r>
            <a:endParaRPr lang="zh-CN" altLang="en-US" dirty="0"/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52596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本次实验允许使用自动生成工具生成词法和语法分析程序，使用工具不限，可以参考编译教材</a:t>
            </a:r>
            <a:r>
              <a:rPr lang="en-US" altLang="zh-CN" dirty="0"/>
              <a:t>3.4</a:t>
            </a:r>
            <a:r>
              <a:rPr lang="zh-CN" altLang="en-US" dirty="0"/>
              <a:t>和</a:t>
            </a:r>
            <a:r>
              <a:rPr lang="en-US" altLang="zh-CN" dirty="0"/>
              <a:t>5.4</a:t>
            </a:r>
            <a:r>
              <a:rPr lang="zh-CN" altLang="en-US" dirty="0"/>
              <a:t>节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LEX</a:t>
            </a:r>
            <a:r>
              <a:rPr lang="zh-CN" altLang="en-US" dirty="0"/>
              <a:t>工具生成词法分析程序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YACC/Bison</a:t>
            </a:r>
            <a:r>
              <a:rPr lang="zh-CN" altLang="en-US" dirty="0"/>
              <a:t>工具生成语法分析程序</a:t>
            </a:r>
            <a:endParaRPr lang="zh-CN" altLang="en-US" dirty="0"/>
          </a:p>
          <a:p>
            <a:pPr lvl="1" eaLnBrk="1" hangingPunct="1"/>
            <a:endParaRPr lang="en-US" altLang="zh-CN" dirty="0"/>
          </a:p>
        </p:txBody>
      </p:sp>
      <p:pic>
        <p:nvPicPr>
          <p:cNvPr id="3891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4319588"/>
            <a:ext cx="5016500" cy="2206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第三个程序：</a:t>
            </a:r>
            <a:br>
              <a:rPr lang="en-US" altLang="zh-CN" dirty="0"/>
            </a:br>
            <a:r>
              <a:rPr lang="en-US" altLang="zh-CN" dirty="0"/>
              <a:t>SNL</a:t>
            </a:r>
            <a:r>
              <a:rPr lang="zh-CN" altLang="en-US" dirty="0"/>
              <a:t>的语义分析程序</a:t>
            </a:r>
            <a:endParaRPr lang="zh-CN" altLang="en-US" dirty="0"/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990600" y="2017713"/>
            <a:ext cx="8153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输入：语法树或</a:t>
            </a:r>
            <a:r>
              <a:rPr lang="en-US" altLang="zh-CN" dirty="0"/>
              <a:t>Token</a:t>
            </a:r>
            <a:r>
              <a:rPr lang="zh-CN" altLang="en-US" dirty="0"/>
              <a:t>序列</a:t>
            </a:r>
            <a:endParaRPr lang="zh-CN" altLang="en-US" dirty="0"/>
          </a:p>
          <a:p>
            <a:pPr eaLnBrk="1" hangingPunct="1"/>
            <a:r>
              <a:rPr lang="zh-CN" altLang="en-US" dirty="0"/>
              <a:t>输出：语义错误信息</a:t>
            </a:r>
            <a:endParaRPr lang="zh-CN" altLang="en-US" dirty="0"/>
          </a:p>
          <a:p>
            <a:pPr eaLnBrk="1" hangingPunct="1"/>
            <a:r>
              <a:rPr lang="zh-CN" altLang="en-US" dirty="0"/>
              <a:t>重点：符号表的建立和管理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符号表属性：种类，类型，名字，其他等</a:t>
            </a:r>
            <a:r>
              <a:rPr lang="en-US" altLang="zh-CN" dirty="0"/>
              <a:t>P155</a:t>
            </a:r>
            <a:endParaRPr lang="en-US" altLang="zh-CN" dirty="0"/>
          </a:p>
          <a:p>
            <a:pPr eaLnBrk="1" hangingPunct="1"/>
            <a:r>
              <a:rPr lang="zh-CN" altLang="en-US" dirty="0"/>
              <a:t>算法：</a:t>
            </a:r>
            <a:endParaRPr lang="zh-CN" altLang="en-US" dirty="0"/>
          </a:p>
          <a:p>
            <a:pPr lvl="2" eaLnBrk="1" hangingPunct="1">
              <a:buClr>
                <a:srgbClr val="FF0000"/>
              </a:buClr>
            </a:pPr>
            <a:r>
              <a:rPr lang="zh-CN" altLang="en-US" dirty="0"/>
              <a:t>在扫描声明部分语法树时建立符号表</a:t>
            </a:r>
            <a:endParaRPr lang="zh-CN" altLang="en-US" dirty="0"/>
          </a:p>
          <a:p>
            <a:pPr lvl="2" eaLnBrk="1" hangingPunct="1">
              <a:buClr>
                <a:srgbClr val="FF0000"/>
              </a:buClr>
            </a:pPr>
            <a:r>
              <a:rPr lang="zh-CN" altLang="en-US" dirty="0"/>
              <a:t>在扫描语句部分语法树时查表检查语义</a:t>
            </a:r>
            <a:endParaRPr lang="en-US" altLang="zh-CN" dirty="0"/>
          </a:p>
          <a:p>
            <a:pPr lvl="2" eaLnBrk="1" hangingPunct="1">
              <a:buClr>
                <a:srgbClr val="FF0000"/>
              </a:buClr>
            </a:pPr>
            <a:r>
              <a:rPr lang="zh-CN" altLang="en-US" dirty="0"/>
              <a:t>需要实现符号表的局部化检查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SNL</a:t>
            </a:r>
            <a:r>
              <a:rPr lang="zh-CN" altLang="en-US" dirty="0"/>
              <a:t>的语义错误</a:t>
            </a:r>
            <a:endParaRPr lang="zh-CN" altLang="en-US" dirty="0"/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648200"/>
          </a:xfrm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 标识符的重复定义；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 无声明的标识符；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 标识符为非期望的标识符类别（类型标识符，变量标识符，过程名标识符）；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） 数组类型下标越界错误；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） 数组成员变量和域变量的引用不合法；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） 赋值语句的左右两边类型不相容；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7</a:t>
            </a:r>
            <a:r>
              <a:rPr lang="zh-CN" altLang="en-US" sz="2000" b="1" dirty="0"/>
              <a:t>） 赋值语句左端不是变量标识符；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） 过程调用中 ，形实参类型不匹配；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9</a:t>
            </a:r>
            <a:r>
              <a:rPr lang="zh-CN" altLang="en-US" sz="2000" b="1" dirty="0"/>
              <a:t>） 过程调用中， 形实参个数不相同；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10</a:t>
            </a:r>
            <a:r>
              <a:rPr lang="zh-CN" altLang="en-US" sz="2000" b="1" dirty="0"/>
              <a:t>）过程调用语句中，标识符不是过程标识符；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11</a:t>
            </a:r>
            <a:r>
              <a:rPr lang="zh-CN" altLang="en-US" sz="2000" b="1" dirty="0"/>
              <a:t>）</a:t>
            </a:r>
            <a:r>
              <a:rPr lang="en-US" altLang="zh-CN" sz="2000" b="1" dirty="0"/>
              <a:t>if 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while </a:t>
            </a:r>
            <a:r>
              <a:rPr lang="zh-CN" altLang="en-US" sz="2000" b="1" dirty="0"/>
              <a:t>语句的条件部分不是</a:t>
            </a:r>
            <a:r>
              <a:rPr lang="en-US" altLang="zh-CN" sz="2000" b="1" dirty="0"/>
              <a:t>bool</a:t>
            </a:r>
            <a:r>
              <a:rPr lang="zh-CN" altLang="en-US" sz="2000" b="1" dirty="0"/>
              <a:t>类型；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12</a:t>
            </a:r>
            <a:r>
              <a:rPr lang="zh-CN" altLang="en-US" sz="2000" b="1" dirty="0"/>
              <a:t>）表达式中运算符的分量的类型不相容 </a:t>
            </a:r>
            <a:endParaRPr lang="zh-CN" altLang="en-US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等等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第四个程序：</a:t>
            </a:r>
            <a:br>
              <a:rPr lang="en-US" altLang="zh-CN" dirty="0"/>
            </a:br>
            <a:r>
              <a:rPr lang="en-US" altLang="zh-CN" dirty="0"/>
              <a:t>SNL</a:t>
            </a:r>
            <a:r>
              <a:rPr lang="zh-CN" altLang="en-US" dirty="0"/>
              <a:t>的目标代码生成</a:t>
            </a:r>
            <a:endParaRPr lang="zh-CN" altLang="en-US" dirty="0"/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400" dirty="0"/>
              <a:t>输入：测试源程序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输出：程序运行结果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目标代码使用</a:t>
            </a:r>
            <a:r>
              <a:rPr lang="en-US" altLang="zh-CN" sz="2400" dirty="0"/>
              <a:t>MIPS</a:t>
            </a:r>
            <a:r>
              <a:rPr lang="zh-CN" altLang="en-US" sz="2400" dirty="0"/>
              <a:t>：</a:t>
            </a:r>
            <a:endParaRPr lang="zh-CN" altLang="en-US" sz="2400" dirty="0"/>
          </a:p>
          <a:p>
            <a:pPr lvl="2" eaLnBrk="1" hangingPunct="1">
              <a:buClr>
                <a:srgbClr val="FF0000"/>
              </a:buClr>
            </a:pPr>
            <a:r>
              <a:rPr lang="en-US" altLang="zh-CN" dirty="0"/>
              <a:t>MIPS</a:t>
            </a:r>
            <a:r>
              <a:rPr lang="zh-CN" altLang="en-US" dirty="0"/>
              <a:t>汇编：生成</a:t>
            </a:r>
            <a:r>
              <a:rPr lang="en-US" altLang="zh-CN" dirty="0"/>
              <a:t>32</a:t>
            </a:r>
            <a:r>
              <a:rPr lang="zh-CN" altLang="en-US" dirty="0"/>
              <a:t>位</a:t>
            </a:r>
            <a:r>
              <a:rPr lang="en-US" altLang="zh-CN" dirty="0"/>
              <a:t>MIPS</a:t>
            </a:r>
            <a:r>
              <a:rPr lang="zh-CN" altLang="en-US" dirty="0"/>
              <a:t>汇编码，代码生成时合理利用临时寄存器（临时寄存器池），并能生成较高质量的目标代码。</a:t>
            </a:r>
            <a:r>
              <a:rPr lang="en-US" altLang="zh-CN" dirty="0"/>
              <a:t>MIPS</a:t>
            </a:r>
            <a:r>
              <a:rPr lang="zh-CN" altLang="en-US" dirty="0"/>
              <a:t>汇编使用</a:t>
            </a:r>
            <a:r>
              <a:rPr lang="en-US" altLang="zh-CN" dirty="0"/>
              <a:t>MARS</a:t>
            </a:r>
            <a:r>
              <a:rPr lang="zh-CN" altLang="en-US" dirty="0"/>
              <a:t>仿真器运行（见附件：</a:t>
            </a:r>
            <a:r>
              <a:rPr lang="en-US" altLang="zh-CN" dirty="0"/>
              <a:t>Mars for Compile 2022</a:t>
            </a:r>
            <a:r>
              <a:rPr lang="zh-CN" altLang="en-US" dirty="0"/>
              <a:t>）；</a:t>
            </a:r>
            <a:endParaRPr lang="zh-CN" altLang="en-US" dirty="0"/>
          </a:p>
          <a:p>
            <a:pPr eaLnBrk="1" hangingPunct="1"/>
            <a:endParaRPr lang="en-US" altLang="zh-CN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852487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MIPS</a:t>
            </a:r>
            <a:r>
              <a:rPr lang="zh-CN" altLang="en-US" dirty="0"/>
              <a:t>汇编</a:t>
            </a:r>
            <a:endParaRPr lang="zh-CN" alt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6868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MIPS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是一种精简指令集（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RISC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）的处理器架构，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1981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年出现，广泛被使用在许多电子产品、网络设备、个人娱乐设备于商业装置上。最早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MIPS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架构是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32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位，最新版本为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64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位，本次实验目标带生成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32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位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MIPS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汇编。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MIPS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汇编特点：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固定长度指令：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每条指令都用固定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的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32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位长度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，每条指令都是四个字节，所以内存数据的访问必须以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32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位严格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对齐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寻址方式支持基址寻址、立即数寻址、寄存器寻址和伪立即数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跳转指令只有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26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位目标地址，加上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2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位对齐位，寻址空间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256M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栈空间走向从高地址到低地址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包含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32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个寄存器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实验报告</a:t>
            </a:r>
            <a:endParaRPr lang="zh-CN" altLang="en-US" dirty="0"/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本次实验采取三人组成开发小组的形式集体讨论合作完成。要求小组人员分工明确，每个人都要参与，了解整个过程。</a:t>
            </a:r>
            <a:endParaRPr lang="en-US" altLang="zh-CN" dirty="0"/>
          </a:p>
          <a:p>
            <a:pPr eaLnBrk="1" hangingPunct="1"/>
            <a:r>
              <a:rPr lang="zh-CN" altLang="en-US" dirty="0"/>
              <a:t>报告形式见文件“</a:t>
            </a:r>
            <a:r>
              <a:rPr lang="en-US" altLang="zh-CN" dirty="0"/>
              <a:t>《</a:t>
            </a:r>
            <a:r>
              <a:rPr lang="zh-CN" altLang="en-US" dirty="0"/>
              <a:t>编译原理课程设计</a:t>
            </a:r>
            <a:r>
              <a:rPr lang="en-US" altLang="zh-CN" dirty="0"/>
              <a:t>》</a:t>
            </a:r>
            <a:r>
              <a:rPr lang="zh-CN" altLang="en-US" dirty="0"/>
              <a:t>总结报告模版”。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成绩评定</a:t>
            </a:r>
            <a:endParaRPr lang="zh-CN" altLang="en-US" dirty="0"/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综合实验的签到情况，实验报告完成情况和老师对程序的检查结果综合评定。</a:t>
            </a:r>
            <a:endParaRPr lang="zh-CN" altLang="en-US" dirty="0"/>
          </a:p>
          <a:p>
            <a:pPr eaLnBrk="1" hangingPunct="1"/>
            <a:r>
              <a:rPr lang="zh-CN" altLang="en-US" dirty="0"/>
              <a:t>最后一次实验课检查程序，检查程序时要求组内成员必须全部到场，之前需要完成学习通上传实验程序和实验报告，并且每小组上交一份纸质打印实验</a:t>
            </a:r>
            <a:r>
              <a:rPr lang="zh-CN" altLang="en-US" dirty="0"/>
              <a:t>报告。</a:t>
            </a:r>
            <a:endParaRPr lang="zh-CN" altLang="en-US" dirty="0"/>
          </a:p>
          <a:p>
            <a:pPr eaLnBrk="1" hangingPunct="1"/>
            <a:r>
              <a:rPr lang="zh-CN" altLang="en-US" dirty="0"/>
              <a:t>每组成员因为表现不同，成绩会有不同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6713</Words>
  <Application>WPS 演示</Application>
  <PresentationFormat>全屏显示(4:3)</PresentationFormat>
  <Paragraphs>336</Paragraphs>
  <Slides>29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Arial</vt:lpstr>
      <vt:lpstr>宋体</vt:lpstr>
      <vt:lpstr>Wingdings</vt:lpstr>
      <vt:lpstr>Tahoma</vt:lpstr>
      <vt:lpstr>Symbol</vt:lpstr>
      <vt:lpstr>Wingdings 2</vt:lpstr>
      <vt:lpstr>黑体</vt:lpstr>
      <vt:lpstr>微软雅黑</vt:lpstr>
      <vt:lpstr>Arial Unicode MS</vt:lpstr>
      <vt:lpstr>Times New Roman</vt:lpstr>
      <vt:lpstr>Tahoma</vt:lpstr>
      <vt:lpstr>Traditional Arabic</vt:lpstr>
      <vt:lpstr>Segoe Print</vt:lpstr>
      <vt:lpstr>Blends</vt:lpstr>
      <vt:lpstr>编译原理课程设计</vt:lpstr>
      <vt:lpstr>实验内容</vt:lpstr>
      <vt:lpstr>实验目的</vt:lpstr>
      <vt:lpstr>实验要求</vt:lpstr>
      <vt:lpstr>SNL语言简介</vt:lpstr>
      <vt:lpstr>SNL的程序结构</vt:lpstr>
      <vt:lpstr>SNL语言的上下文无关文法P8-11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第一个程序： SNL的词法分析程序</vt:lpstr>
      <vt:lpstr>单词的Token表示</vt:lpstr>
      <vt:lpstr>PowerPoint 演示文稿</vt:lpstr>
      <vt:lpstr>第二个程序 SNL语法分析—— 方法1：递归下降分析程序</vt:lpstr>
      <vt:lpstr>递归下降分析模块</vt:lpstr>
      <vt:lpstr>SNL语法分析 —— 方法2：LL(1)分析程序</vt:lpstr>
      <vt:lpstr>词法和语法分析程序的自动生成</vt:lpstr>
      <vt:lpstr>第三个程序： SNL的语义分析程序</vt:lpstr>
      <vt:lpstr>SNL的语义错误</vt:lpstr>
      <vt:lpstr>第四个程序： SNL的目标代码生成</vt:lpstr>
      <vt:lpstr>MIPS汇编</vt:lpstr>
      <vt:lpstr>实验报告</vt:lpstr>
      <vt:lpstr>成绩评定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随心</cp:lastModifiedBy>
  <cp:revision>116</cp:revision>
  <dcterms:created xsi:type="dcterms:W3CDTF">2021-03-18T03:19:00Z</dcterms:created>
  <dcterms:modified xsi:type="dcterms:W3CDTF">2026-04-12T13:43:33Z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2052-12.1.0.25225</vt:lpwstr>
  </property>
  <property fmtid="{D5CDD505-2E9C-101B-9397-08002B2CF9AE}" pid="4" name="ICV">
    <vt:lpwstr>FBAECC5AD8BA4F0BAE43818F9F3ACCDE_12</vt:lpwstr>
  </property>
</Properties>
</file>